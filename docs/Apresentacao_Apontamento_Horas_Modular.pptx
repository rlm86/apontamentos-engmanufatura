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8A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ar-logo-whit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85800"/>
            <a:ext cx="2926080" cy="6651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148840"/>
            <a:ext cx="749807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Apontamento de Horas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971800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78AD3E"/>
                </a:solidFill>
                <a:latin typeface="Arial"/>
              </a:rPr>
              <a:t>Controle compartilhado de jornada, projetos e aprovações</a:t>
            </a:r>
          </a:p>
        </p:txBody>
      </p:sp>
      <p:pic>
        <p:nvPicPr>
          <p:cNvPr id="6" name="Picture 5" descr="modular-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234440"/>
            <a:ext cx="2377440" cy="24037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3733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Modular Data Centers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733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8A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ar-logo-whit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2240280" cy="5092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051560"/>
            <a:ext cx="7955279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Por que mudar o apontamento?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8869680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000" b="1">
                <a:solidFill>
                  <a:srgbClr val="78AD3E"/>
                </a:solidFill>
                <a:latin typeface="Arial"/>
              </a:rPr>
              <a:t>Da planilha ao processo rastreável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9875520" cy="32004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Planilhas por colaborador dificultam consolidação e governança.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Campos mistos como FDS, férias e horas criam risco de erro.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Fechamento mensal exige validação manual e retrabalho.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Gestores precisam de visão rápida de horas por projeto, atividade e equipe.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733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Modular Data Centers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733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8A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ar-logo-whit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2240280" cy="5092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051560"/>
            <a:ext cx="7955279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Objetivos do Aponta P3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8869680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000" b="1">
                <a:solidFill>
                  <a:srgbClr val="78AD3E"/>
                </a:solidFill>
                <a:latin typeface="Arial"/>
              </a:rPr>
              <a:t>Mais controle, menos retrabalho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4709160" cy="1051560"/>
          </a:xfrm>
          <a:prstGeom prst="roundRect">
            <a:avLst/>
          </a:prstGeom>
          <a:solidFill>
            <a:srgbClr val="083746"/>
          </a:solidFill>
          <a:ln>
            <a:solidFill>
              <a:srgbClr val="78A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542032"/>
            <a:ext cx="4297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8AD3E"/>
                </a:solidFill>
                <a:latin typeface="Arial"/>
              </a:rPr>
              <a:t>Centralizar</a:t>
            </a:r>
          </a:p>
          <a:p>
            <a:r>
              <a:rPr sz="1500">
                <a:solidFill>
                  <a:srgbClr val="FFFFFF"/>
                </a:solidFill>
                <a:latin typeface="Arial"/>
              </a:rPr>
              <a:t>Um único ambiente para toda a equipe.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423160"/>
            <a:ext cx="4709160" cy="1051560"/>
          </a:xfrm>
          <a:prstGeom prst="roundRect">
            <a:avLst/>
          </a:prstGeom>
          <a:solidFill>
            <a:srgbClr val="083746"/>
          </a:solidFill>
          <a:ln>
            <a:solidFill>
              <a:srgbClr val="78A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7" y="2542032"/>
            <a:ext cx="4297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8AD3E"/>
                </a:solidFill>
                <a:latin typeface="Arial"/>
              </a:rPr>
              <a:t>Padronizar</a:t>
            </a:r>
          </a:p>
          <a:p>
            <a:r>
              <a:rPr sz="1500">
                <a:solidFill>
                  <a:srgbClr val="FFFFFF"/>
                </a:solidFill>
                <a:latin typeface="Arial"/>
              </a:rPr>
              <a:t>Projetos e atividades com cadastro único.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40480"/>
            <a:ext cx="4709160" cy="1051560"/>
          </a:xfrm>
          <a:prstGeom prst="roundRect">
            <a:avLst/>
          </a:prstGeom>
          <a:solidFill>
            <a:srgbClr val="083746"/>
          </a:solidFill>
          <a:ln>
            <a:solidFill>
              <a:srgbClr val="78A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959352"/>
            <a:ext cx="4297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8AD3E"/>
                </a:solidFill>
                <a:latin typeface="Arial"/>
              </a:rPr>
              <a:t>Alertar</a:t>
            </a:r>
          </a:p>
          <a:p>
            <a:r>
              <a:rPr sz="1500">
                <a:solidFill>
                  <a:srgbClr val="FFFFFF"/>
                </a:solidFill>
                <a:latin typeface="Arial"/>
              </a:rPr>
              <a:t>Aviso de jornada excedida antes de salvar.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840480"/>
            <a:ext cx="4709160" cy="1051560"/>
          </a:xfrm>
          <a:prstGeom prst="roundRect">
            <a:avLst/>
          </a:prstGeom>
          <a:solidFill>
            <a:srgbClr val="083746"/>
          </a:solidFill>
          <a:ln>
            <a:solidFill>
              <a:srgbClr val="78A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3959352"/>
            <a:ext cx="4297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8AD3E"/>
                </a:solidFill>
                <a:latin typeface="Arial"/>
              </a:rPr>
              <a:t>Aprovar</a:t>
            </a:r>
          </a:p>
          <a:p>
            <a:r>
              <a:rPr sz="1500">
                <a:solidFill>
                  <a:srgbClr val="FFFFFF"/>
                </a:solidFill>
                <a:latin typeface="Arial"/>
              </a:rPr>
              <a:t>Fechamento mensal com status e notificação.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733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Modular Data Centers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3733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8A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ar-logo-whit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2240280" cy="5092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051560"/>
            <a:ext cx="7955279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Fluxo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8869680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000" b="1">
                <a:solidFill>
                  <a:srgbClr val="78AD3E"/>
                </a:solidFill>
                <a:latin typeface="Arial"/>
              </a:rPr>
              <a:t>Do lançamento à aprovação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606040"/>
            <a:ext cx="566928" cy="566928"/>
          </a:xfrm>
          <a:prstGeom prst="ellipse">
            <a:avLst/>
          </a:prstGeom>
          <a:solidFill>
            <a:srgbClr val="78A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706624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5263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Registrar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49039"/>
            <a:ext cx="1965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EBF2EB"/>
                </a:solidFill>
                <a:latin typeface="Arial"/>
              </a:rPr>
              <a:t>Colaborador aponta horas por data, projeto e atividade.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2606040"/>
            <a:ext cx="566928" cy="566928"/>
          </a:xfrm>
          <a:prstGeom prst="ellipse">
            <a:avLst/>
          </a:prstGeom>
          <a:solidFill>
            <a:srgbClr val="78A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2706624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52630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3375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Validar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749039"/>
            <a:ext cx="1965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EBF2EB"/>
                </a:solidFill>
                <a:latin typeface="Arial"/>
              </a:rPr>
              <a:t>Sistema compara com a jornada prevista do dia.</a:t>
            </a:r>
          </a:p>
        </p:txBody>
      </p:sp>
      <p:sp>
        <p:nvSpPr>
          <p:cNvPr id="14" name="Oval 13"/>
          <p:cNvSpPr/>
          <p:nvPr/>
        </p:nvSpPr>
        <p:spPr>
          <a:xfrm>
            <a:off x="5257800" y="2606040"/>
            <a:ext cx="566928" cy="566928"/>
          </a:xfrm>
          <a:prstGeom prst="ellipse">
            <a:avLst/>
          </a:prstGeom>
          <a:solidFill>
            <a:srgbClr val="78A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9824" y="2706624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52630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3375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Enviar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749039"/>
            <a:ext cx="1965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EBF2EB"/>
                </a:solidFill>
                <a:latin typeface="Arial"/>
              </a:rPr>
              <a:t>Mês é enviado para aprovação do gestor.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0" y="2606040"/>
            <a:ext cx="566928" cy="566928"/>
          </a:xfrm>
          <a:prstGeom prst="ellipse">
            <a:avLst/>
          </a:prstGeom>
          <a:solidFill>
            <a:srgbClr val="78A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0104" y="2706624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52630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33375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Aprovar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3749039"/>
            <a:ext cx="1965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EBF2EB"/>
                </a:solidFill>
                <a:latin typeface="Arial"/>
              </a:rPr>
              <a:t>Gestor aprova ou devolve com observação.</a:t>
            </a:r>
          </a:p>
        </p:txBody>
      </p:sp>
      <p:sp>
        <p:nvSpPr>
          <p:cNvPr id="22" name="Oval 21"/>
          <p:cNvSpPr/>
          <p:nvPr/>
        </p:nvSpPr>
        <p:spPr>
          <a:xfrm>
            <a:off x="9738360" y="2606040"/>
            <a:ext cx="566928" cy="566928"/>
          </a:xfrm>
          <a:prstGeom prst="ellipse">
            <a:avLst/>
          </a:prstGeom>
          <a:solidFill>
            <a:srgbClr val="78A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0384" y="2706624"/>
            <a:ext cx="228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52630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33375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Relatar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3749039"/>
            <a:ext cx="1965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EBF2EB"/>
                </a:solidFill>
                <a:latin typeface="Arial"/>
              </a:rPr>
              <a:t>Dados ficam disponíveis para consulta e exportação.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733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Modular Data Centers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3733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8A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ar-logo-whit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2240280" cy="5092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051560"/>
            <a:ext cx="7955279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Perfis de acesso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8869680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000" b="1">
                <a:solidFill>
                  <a:srgbClr val="78AD3E"/>
                </a:solidFill>
                <a:latin typeface="Arial"/>
              </a:rPr>
              <a:t>Cada pessoa vê o que precisa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41448"/>
            <a:ext cx="128016" cy="713232"/>
          </a:xfrm>
          <a:prstGeom prst="rect">
            <a:avLst/>
          </a:prstGeom>
          <a:solidFill>
            <a:srgbClr val="78A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331720"/>
            <a:ext cx="9052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78AD3E"/>
                </a:solidFill>
                <a:latin typeface="Arial"/>
              </a:rPr>
              <a:t>Colaborador</a:t>
            </a:r>
          </a:p>
          <a:p>
            <a:r>
              <a:rPr sz="1700">
                <a:solidFill>
                  <a:srgbClr val="FFFFFF"/>
                </a:solidFill>
                <a:latin typeface="Arial"/>
              </a:rPr>
              <a:t>Registra apontamentos, ausências e envia fechamento do mês.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84448"/>
            <a:ext cx="128016" cy="713232"/>
          </a:xfrm>
          <a:prstGeom prst="rect">
            <a:avLst/>
          </a:prstGeom>
          <a:solidFill>
            <a:srgbClr val="78A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474720"/>
            <a:ext cx="9052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78AD3E"/>
                </a:solidFill>
                <a:latin typeface="Arial"/>
              </a:rPr>
              <a:t>Gestor</a:t>
            </a:r>
          </a:p>
          <a:p>
            <a:r>
              <a:rPr sz="1700">
                <a:solidFill>
                  <a:srgbClr val="FFFFFF"/>
                </a:solidFill>
                <a:latin typeface="Arial"/>
              </a:rPr>
              <a:t>Acompanha a equipe, aprova ou devolve fechamentos e consulta relatórios.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727448"/>
            <a:ext cx="128016" cy="713232"/>
          </a:xfrm>
          <a:prstGeom prst="rect">
            <a:avLst/>
          </a:prstGeom>
          <a:solidFill>
            <a:srgbClr val="78A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617720"/>
            <a:ext cx="9052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78AD3E"/>
                </a:solidFill>
                <a:latin typeface="Arial"/>
              </a:rPr>
              <a:t>Administrador</a:t>
            </a:r>
          </a:p>
          <a:p>
            <a:r>
              <a:rPr sz="1700">
                <a:solidFill>
                  <a:srgbClr val="FFFFFF"/>
                </a:solidFill>
                <a:latin typeface="Arial"/>
              </a:rPr>
              <a:t>Gerencia usuários, perfis, projetos, atividades e feriados.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733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Modular Data Centers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3733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8A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ar-logo-whit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2240280" cy="5092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051560"/>
            <a:ext cx="7955279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Recursos entregues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8869680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000" b="1">
                <a:solidFill>
                  <a:srgbClr val="78AD3E"/>
                </a:solidFill>
                <a:latin typeface="Arial"/>
              </a:rPr>
              <a:t>Operação diária e gestão mensal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9875520" cy="32004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Painel com horas no mês, apontamentos, colaboradores e projetos ativos.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Apontamento diário com alerta de jornada excedida.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Ausências: férias, atestados, folgas e licenças.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Fechamento mensal com aprovação, devolução e notificação por e-mail.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Relatórios exportáveis por período, colaborador e projeto.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733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Modular Data Centers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733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8A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ar-logo-whit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2240280" cy="5092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051560"/>
            <a:ext cx="7955279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Governança e 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8869680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000" b="1">
                <a:solidFill>
                  <a:srgbClr val="78AD3E"/>
                </a:solidFill>
                <a:latin typeface="Arial"/>
              </a:rPr>
              <a:t>Rastreabilidade para todos os períodos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9875520" cy="32004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Banco de dados centralizado no Supabase.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Regras de acesso: colaborador visualiza os próprios registros; gestores acompanham a equipe.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Fechamentos aprovados preservam o histórico do período.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E-mails de aprovação são enviados por função segura no Supabase, sem expor chaves no navegador.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733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Modular Data Centers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3733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26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8A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ar-logo-whit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2240280" cy="5092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051560"/>
            <a:ext cx="7955279" cy="9144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8869680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000" b="1">
                <a:solidFill>
                  <a:srgbClr val="78AD3E"/>
                </a:solidFill>
                <a:latin typeface="Arial"/>
              </a:rPr>
              <a:t>Implantação assistida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9875520" cy="32004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Validar cadastros iniciais de colaboradores, projetos e atividades.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Definir gestores aprovadores e regras de fechamento.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Publicar o link oficial do sistema para a equipe.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Treinar usuários com foco em apontamento diário e fechamento mensal.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rial"/>
              </a:defRPr>
            </a:pPr>
            <a:r>
              <a:t>• Acompanhar o primeiro ciclo mensal e ajustar categorias/rotinas.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916168"/>
            <a:ext cx="9875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Documento interno — uso restrito Modular Data Centers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73368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Modular Data Centers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3733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C3D2C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